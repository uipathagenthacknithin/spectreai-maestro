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BqjGzBZeuPwFIeotvNky2MV4u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727EF2-F7C1-4399-87EA-6D1FE4317433}">
  <a:tblStyle styleId="{34727EF2-F7C1-4399-87EA-6D1FE43174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384175" y="685800"/>
            <a:ext cx="6089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6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7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7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8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9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1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2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6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6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6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6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7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7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7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7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8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8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8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9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9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30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0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30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30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0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0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0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31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32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3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33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3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3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6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4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4217803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2000"/>
              <a:t>Your support channel just became a self-healing engine.</a:t>
            </a:r>
            <a:endParaRPr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640799" y="2896623"/>
            <a:ext cx="8834593" cy="1221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0" lang="en-US" sz="3600"/>
              <a:t>SpectreAI: From "Bot's Down" in Slack to a Draft PR in Under 2 Minutes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55" y="1925979"/>
            <a:ext cx="2223500" cy="22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"/>
          <p:cNvSpPr/>
          <p:nvPr/>
        </p:nvSpPr>
        <p:spPr>
          <a:xfrm>
            <a:off x="308294" y="4436925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Nithin 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342659" y="5063729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Architect @ Persistent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nithin_b@persistent.com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3216503" y="4450509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3105672" y="5062793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6148101" y="4450509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6148101" y="5060108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8858415" y="4436925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8881502" y="5060108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359999" y="360000"/>
            <a:ext cx="9000000" cy="603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SpectreAI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255" y="1840291"/>
            <a:ext cx="2400000" cy="2400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rgbClr val="172024"/>
                </a:solidFill>
              </a:rPr>
              <a:t>Problem Statement &amp; Proposed Solution</a:t>
            </a:r>
            <a:endParaRPr/>
          </a:p>
        </p:txBody>
      </p:sp>
      <p:sp>
        <p:nvSpPr>
          <p:cNvPr id="190" name="Google Shape;190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/>
              <a:t>Problem</a:t>
            </a:r>
            <a:endParaRPr/>
          </a:p>
        </p:txBody>
      </p:sp>
      <p:sp>
        <p:nvSpPr>
          <p:cNvPr id="192" name="Google Shape;192;p3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An end user messages the support channel: "Invoice bot crashed again."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Developer manually digs through Orchestrator logs across multiple folders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Figures out if it's a code bug or data issue, finds the exact failing line in XAML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Raises a PR — while the user waits with zero visibility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400"/>
              <a:t>Every failure = hours of developer time + frustrated end users.</a:t>
            </a:r>
            <a:endParaRPr/>
          </a:p>
        </p:txBody>
      </p:sp>
      <p:sp>
        <p:nvSpPr>
          <p:cNvPr id="193" name="Google Shape;193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/>
              <a:t>Solution</a:t>
            </a:r>
            <a:endParaRPr/>
          </a:p>
        </p:txBody>
      </p:sp>
      <p:sp>
        <p:nvSpPr>
          <p:cNvPr id="194" name="Google Shape;194;p3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400"/>
              <a:t>SpectreAI takes over the moment that Slack message lands.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Investigation Agent — 3-layer log fetch across Orchestrator folders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Triages issue type: credentials / timeout / business exc. / system error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Searches Spectre KB for past incidents, confidence-scored diagnosis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Coding Agent — discovers repo by process ID, selects candidate XAML files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LLM patches exact broken lines (line_range / multi_range / full_rewrite)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300"/>
              <a:t>Validates XML, commits, opens labelled Draft PR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300"/>
              <a:t>End user: live Slack updates throughout. Developer: PR lands in their channel.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&amp; What Makes SpectreAI Stand 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1" name="Google Shape;201;p4"/>
          <p:cNvGraphicFramePr/>
          <p:nvPr/>
        </p:nvGraphicFramePr>
        <p:xfrm>
          <a:off x="360000" y="11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{34727EF2-F7C1-4399-87EA-6D1FE4317433}</a:tableStyleId>
              </a:tblPr>
              <a:tblGrid>
                <a:gridCol w="5700000"/>
                <a:gridCol w="5700000"/>
              </a:tblGrid>
              <a:tr h="7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Before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After SpectreAI</a:t>
                      </a:r>
                      <a:endParaRPr b="1" sz="1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D6B3C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2-4 hours per fix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&lt; 2 minutes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Developer on-call triages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AI agents triage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Manual log search, one folder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3-layer parallel search across 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Best-guess issue routing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Auto-classified &amp; routed by 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Full manual XAML edit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Surgical line-range patch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Blank PR, no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Labelled, classified, confidence-scored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User waits with no updates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Live Slack status throughout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Starts from zero each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SpectreKB learns every diagnosis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1F3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bot at a time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FFFF"/>
                          </a:solidFill>
                        </a:rPr>
                        <a:t>Any UiPath process in the org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4"/>
          <p:cNvSpPr txBox="1"/>
          <p:nvPr/>
        </p:nvSpPr>
        <p:spPr>
          <a:xfrm>
            <a:off x="360000" y="6000000"/>
            <a:ext cx="11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Powered by: UiPath Maestro + Coded Agents  |  LLM Gateway (GPT-4.1 mini)  |  GitHub API + PyGithub  |  Slack + SpectreKB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00" y="1350000"/>
            <a:ext cx="10512000" cy="51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Happy Path (1/2): Slack Trigger &amp; Investigation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6"/>
          <p:cNvSpPr txBox="1"/>
          <p:nvPr/>
        </p:nvSpPr>
        <p:spPr>
          <a:xfrm>
            <a:off x="300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User submits bug via Slack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9" name="Google Shape;219;p6"/>
          <p:cNvSpPr txBox="1"/>
          <p:nvPr/>
        </p:nvSpPr>
        <p:spPr>
          <a:xfrm>
            <a:off x="6216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SpectreAI investigates &amp; diagnoses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7503" y="3915956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6"/>
          <p:cNvSpPr txBox="1"/>
          <p:nvPr/>
        </p:nvSpPr>
        <p:spPr>
          <a:xfrm>
            <a:off x="4596547" y="6529674"/>
            <a:ext cx="2577503" cy="258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Jira bug ticket created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Happy Path (2/2): Fix, PR &amp; Notifications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7"/>
          <p:cNvSpPr txBox="1"/>
          <p:nvPr/>
        </p:nvSpPr>
        <p:spPr>
          <a:xfrm>
            <a:off x="300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Draft PR raised with XAML patch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7"/>
          <p:cNvSpPr txBox="1"/>
          <p:nvPr/>
        </p:nvSpPr>
        <p:spPr>
          <a:xfrm>
            <a:off x="6216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Support channel notified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8000" y="384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7"/>
          <p:cNvSpPr txBox="1"/>
          <p:nvPr/>
        </p:nvSpPr>
        <p:spPr>
          <a:xfrm>
            <a:off x="4700874" y="6480000"/>
            <a:ext cx="3676012" cy="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Dev channel notified with PR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Escalation Path (1/2): Submission &amp; Mid-Flow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1269124"/>
            <a:ext cx="5676000" cy="4597769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8"/>
          <p:cNvSpPr txBox="1"/>
          <p:nvPr/>
        </p:nvSpPr>
        <p:spPr>
          <a:xfrm>
            <a:off x="1625572" y="602795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User submits — Transaction with no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000" y="1256597"/>
            <a:ext cx="5676000" cy="4597769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3" name="Google Shape;243;p8"/>
          <p:cNvSpPr txBox="1"/>
          <p:nvPr/>
        </p:nvSpPr>
        <p:spPr>
          <a:xfrm>
            <a:off x="7487769" y="5966724"/>
            <a:ext cx="5676000" cy="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SpectreAI: Escalate or Dismiss?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Escalation Path (2/2): Escalation &amp; Action Centre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1" name="Google Shape;251;p9"/>
          <p:cNvSpPr txBox="1"/>
          <p:nvPr/>
        </p:nvSpPr>
        <p:spPr>
          <a:xfrm>
            <a:off x="300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Escalation status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000" y="950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9"/>
          <p:cNvSpPr txBox="1"/>
          <p:nvPr/>
        </p:nvSpPr>
        <p:spPr>
          <a:xfrm>
            <a:off x="6216000" y="3514000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Bug ticket raised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3885" y="3884000"/>
            <a:ext cx="5676000" cy="25340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9"/>
          <p:cNvSpPr txBox="1"/>
          <p:nvPr/>
        </p:nvSpPr>
        <p:spPr>
          <a:xfrm>
            <a:off x="4559727" y="6480000"/>
            <a:ext cx="3178920" cy="264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Action Centre ticket for human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Enhancement Path (1/2): Request &amp; Acknowledgement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1342765"/>
            <a:ext cx="5676000" cy="4567085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10"/>
          <p:cNvSpPr txBox="1"/>
          <p:nvPr/>
        </p:nvSpPr>
        <p:spPr>
          <a:xfrm>
            <a:off x="1564203" y="6083179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User requests enhancement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7799" y="1344650"/>
            <a:ext cx="5676002" cy="4565200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10"/>
          <p:cNvSpPr txBox="1"/>
          <p:nvPr/>
        </p:nvSpPr>
        <p:spPr>
          <a:xfrm>
            <a:off x="7924918" y="6048171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SpectreAI acknowledges &amp; routes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— Enhancement Path (2/2): Jira Ticket Auto-Created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805" y="980000"/>
            <a:ext cx="8646910" cy="5224419"/>
          </a:xfrm>
          <a:prstGeom prst="rect">
            <a:avLst/>
          </a:prstGeom>
          <a:noFill/>
          <a:ln cap="flat" cmpd="sng" w="9525">
            <a:solidFill>
              <a:srgbClr val="2D35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3" name="Google Shape;273;p11"/>
          <p:cNvSpPr txBox="1"/>
          <p:nvPr/>
        </p:nvSpPr>
        <p:spPr>
          <a:xfrm>
            <a:off x="4061925" y="6334794"/>
            <a:ext cx="5676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000" lIns="180000" spcFirstLastPara="1" rIns="18000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Jira enhancement ticket created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4500" cy="6425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800"/>
              <a:t>Bot failures resolved. Code committed. Sleep reclaimed.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SpectreAI - because your bots should fix themselves.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